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Segoe UI"/>
              </a:rPr>
              <a:t>InboxIQ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8C4E0"/>
                </a:solidFill>
                <a:latin typeface="Segoe UI"/>
              </a:rPr>
              <a:t>The Agentic Productivity Layer for Microsoft 365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96B8"/>
                </a:solidFill>
                <a:latin typeface="Segoe UI"/>
              </a:rPr>
              <a:t>Microsoft Build AI 2026  |  Theme 01 — AI at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6B8"/>
                </a:solidFill>
                <a:latin typeface="Segoe UI"/>
              </a:rPr>
              <a:t>Mahammad's Team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6CBD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F36"/>
                </a:solidFill>
                <a:latin typeface="Segoe UI"/>
              </a:rPr>
              <a:t>Knowledge workers drown in chaotic communications.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6CBD"/>
                </a:solidFill>
                <a:latin typeface="Segoe UI"/>
              </a:rPr>
              <a:t>2.5 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B6E"/>
                </a:solidFill>
                <a:latin typeface="Segoe UI"/>
              </a:rPr>
              <a:t>spent on email triage every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8600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6060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6CBD"/>
                </a:solidFill>
                <a:latin typeface="Segoe UI"/>
              </a:rPr>
              <a:t>120+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520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B6E"/>
                </a:solidFill>
                <a:latin typeface="Segoe UI"/>
              </a:rPr>
              <a:t>emails received per knowledge worker per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6CBD"/>
                </a:solidFill>
                <a:latin typeface="Segoe UI"/>
              </a:rPr>
              <a:t>45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20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B6E"/>
                </a:solidFill>
                <a:latin typeface="Segoe UI"/>
              </a:rPr>
              <a:t>writing repetitive status updates 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B6E"/>
                </a:solidFill>
                <a:latin typeface="Segoe UI"/>
              </a:rPr>
              <a:t>Existing tools are reactive and single-task. There is no autonomous agent that owns the full inbox-to-action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6CBD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F36"/>
                </a:solidFill>
                <a:latin typeface="Segoe UI"/>
              </a:rPr>
              <a:t>A multi-agent system that lives inside Microsoft 365.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Reads all Outlook + Teams traffic via Microsoft Graph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Classifies every item: Urgent / Action / FYI / Noise (Azure OpenAI GPT-4o)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Summarizes threads into 1-sentence digests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Drafts context-aware replies (RAG over 90 days of correspondence)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Schedules meetings, blocks focus time, prepares 5-bullet briefings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Follows up on stalled threads after configurable SLAs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Delivers a 60-second voice briefing every morning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6CBD"/>
                </a:solidFill>
                <a:latin typeface="Segoe UI"/>
              </a:rPr>
              <a:t>System 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6CBD"/>
                </a:solidFill>
                <a:latin typeface="Segoe UI"/>
              </a:rPr>
              <a:t>The Agent Swarm (AutoGen)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CBD"/>
                </a:solidFill>
                <a:latin typeface="Segoe UI"/>
              </a:rPr>
              <a:t>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Segoe UI"/>
              </a:rPr>
              <a:t>Decomposes user goals into atomic sub-tasks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CBD"/>
                </a:solidFill>
                <a:latin typeface="Segoe UI"/>
              </a:rPr>
              <a:t>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231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Segoe UI"/>
              </a:rPr>
              <a:t>Tags each email with priority and 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CBD"/>
                </a:solidFill>
                <a:latin typeface="Segoe UI"/>
              </a:rPr>
              <a:t>Drafter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231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Segoe UI"/>
              </a:rPr>
              <a:t>Writes replies in the user's voice (RAG-grounded)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CBD"/>
                </a:solidFill>
                <a:latin typeface="Segoe UI"/>
              </a:rPr>
              <a:t>Scheduler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Segoe UI"/>
              </a:rPr>
              <a:t>Books meetings and resolves calendar conflicts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93192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60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CBD"/>
                </a:solidFill>
                <a:latin typeface="Segoe UI"/>
              </a:rPr>
              <a:t>Critic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0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Segoe UI"/>
              </a:rPr>
              <a:t>Validates every action against safety + policy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93192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160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CBD"/>
                </a:solidFill>
                <a:latin typeface="Segoe UI"/>
              </a:rPr>
              <a:t>Reporter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00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Segoe UI"/>
              </a:rPr>
              <a:t>Compiles the daily 60-second briefing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6CBD"/>
                </a:solidFill>
                <a:latin typeface="Segoe UI"/>
              </a:rPr>
              <a:t>Built on the Microsoft AI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1A1F36"/>
                </a:solidFill>
                <a:latin typeface="Segoe UI"/>
              </a:rPr>
              <a:t>•  Azure AI Foundry  — model hosting, RAG index, eval harness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A1F36"/>
                </a:solidFill>
                <a:latin typeface="Segoe UI"/>
              </a:rPr>
              <a:t>•  Azure OpenAI Service  — GPT-4o, GPT-4o-mini, text-embedding-3-large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A1F36"/>
                </a:solidFill>
                <a:latin typeface="Segoe UI"/>
              </a:rPr>
              <a:t>•  Semantic Kernel  — plugin orchestration (Python 1.18)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A1F36"/>
                </a:solidFill>
                <a:latin typeface="Segoe UI"/>
              </a:rPr>
              <a:t>•  AutoGen v0.4  — multi-agent group chat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A1F36"/>
                </a:solidFill>
                <a:latin typeface="Segoe UI"/>
              </a:rPr>
              <a:t>•  Microsoft Graph SDK  — Outlook, Teams, Calendar access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A1F36"/>
                </a:solidFill>
                <a:latin typeface="Segoe UI"/>
              </a:rPr>
              <a:t>•  Copilot Studio  — declarative agent surface inside Teams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A1F36"/>
                </a:solidFill>
                <a:latin typeface="Segoe UI"/>
              </a:rPr>
              <a:t>•  GitHub Copilot  — 40% of code AI-authored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A1F36"/>
                </a:solidFill>
                <a:latin typeface="Segoe UI"/>
              </a:rPr>
              <a:t>•  Azure Cosmos DB  — agent memory + immutable audit log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A1F36"/>
                </a:solidFill>
                <a:latin typeface="Segoe UI"/>
              </a:rPr>
              <a:t>•  Azure Speech Services  — voice briefing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A1F36"/>
                </a:solidFill>
                <a:latin typeface="Segoe UI"/>
              </a:rPr>
              <a:t>•  Azure Container Apps  — production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6CBD"/>
                </a:solidFill>
                <a:latin typeface="Segoe UI"/>
              </a:rPr>
              <a:t>The Experience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6CBD"/>
                </a:solidFill>
                <a:latin typeface="Segoe UI"/>
              </a:rPr>
              <a:t>Measured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Segoe UI"/>
              </a:rPr>
              <a:t>Internal benchmark, n=500 emails across 12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97480" cy="54864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828800"/>
            <a:ext cx="2697480" cy="54864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920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2697480" cy="54864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InboxIQ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39" y="1828800"/>
            <a:ext cx="2697480" cy="54864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39" y="1920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2316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146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Email triage / 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42316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5146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2h 30m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2316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5146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18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39" y="242316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39" y="25146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6CBD"/>
                </a:solidFill>
                <a:latin typeface="Segoe UI"/>
              </a:rPr>
              <a:t>-88%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971800"/>
            <a:ext cx="2697480" cy="502920"/>
          </a:xfrm>
          <a:prstGeom prst="rect">
            <a:avLst/>
          </a:prstGeom>
          <a:solidFill>
            <a:srgbClr val="F1F5FB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63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Reply quality (1–5)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2971800"/>
            <a:ext cx="2697480" cy="502920"/>
          </a:xfrm>
          <a:prstGeom prst="rect">
            <a:avLst/>
          </a:prstGeom>
          <a:solidFill>
            <a:srgbClr val="F1F5FB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063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3.1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971800"/>
            <a:ext cx="2697480" cy="502920"/>
          </a:xfrm>
          <a:prstGeom prst="rect">
            <a:avLst/>
          </a:prstGeom>
          <a:solidFill>
            <a:srgbClr val="F1F5FB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063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4.4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39" y="2971800"/>
            <a:ext cx="2697480" cy="502920"/>
          </a:xfrm>
          <a:prstGeom prst="rect">
            <a:avLst/>
          </a:prstGeom>
          <a:solidFill>
            <a:srgbClr val="F1F5FB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39" y="3063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6CBD"/>
                </a:solidFill>
                <a:latin typeface="Segoe UI"/>
              </a:rPr>
              <a:t>+42%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520439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61187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False-priority 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520439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361187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22%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520439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61187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4.1%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39" y="3520439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39" y="361187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6CBD"/>
                </a:solidFill>
                <a:latin typeface="Segoe UI"/>
              </a:rPr>
              <a:t>-81%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069079"/>
            <a:ext cx="2697480" cy="502920"/>
          </a:xfrm>
          <a:prstGeom prst="rect">
            <a:avLst/>
          </a:prstGeom>
          <a:solidFill>
            <a:srgbClr val="F1F5FB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16051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Meeting prep 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4069079"/>
            <a:ext cx="2697480" cy="502920"/>
          </a:xfrm>
          <a:prstGeom prst="rect">
            <a:avLst/>
          </a:prstGeom>
          <a:solidFill>
            <a:srgbClr val="F1F5FB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416051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30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069079"/>
            <a:ext cx="2697480" cy="502920"/>
          </a:xfrm>
          <a:prstGeom prst="rect">
            <a:avLst/>
          </a:prstGeom>
          <a:solidFill>
            <a:srgbClr val="F1F5FB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16051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2 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39" y="4069079"/>
            <a:ext cx="2697480" cy="502920"/>
          </a:xfrm>
          <a:prstGeom prst="rect">
            <a:avLst/>
          </a:prstGeom>
          <a:solidFill>
            <a:srgbClr val="F1F5FB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39" y="416051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6CBD"/>
                </a:solidFill>
                <a:latin typeface="Segoe UI"/>
              </a:rPr>
              <a:t>-93%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61772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7091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Focus hours / week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461772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29000" y="47091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61772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47091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F36"/>
                </a:solidFill>
                <a:latin typeface="Segoe UI"/>
              </a:rPr>
              <a:t>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6839" y="461772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39" y="47091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6CBD"/>
                </a:solidFill>
                <a:latin typeface="Segoe UI"/>
              </a:rPr>
              <a:t>+118%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6CBD"/>
                </a:solidFill>
                <a:latin typeface="Segoe UI"/>
              </a:rPr>
              <a:t>Security &amp; 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Human-in-the-loop approval on all outbound writes (configurable trust tiers)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Prompt-injection defense: input sanitization + Critic agent policy DSL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PII redaction before any model call (Microsoft Presidio)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Immutable audit log in Cosmos DB with append-only lease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Content Safety filters via Azure AI Foundry guardrails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Zero data egress — customer data never leaves the user's Azure tenant (BYOK)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F36"/>
                </a:solidFill>
                <a:latin typeface="Segoe UI"/>
              </a:rPr>
              <a:t>•  Continuous red-teaming via Foundry eval harness on every PR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CBD"/>
                </a:solidFill>
                <a:latin typeface="Segoe UI"/>
              </a:rPr>
              <a:t>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8288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5EAF2"/>
                </a:solidFill>
                <a:latin typeface="Segoe UI"/>
              </a:rPr>
              <a:t>Microsoft 365 (Outlook + Teams) — closed beta with 12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CBD"/>
                </a:solidFill>
                <a:latin typeface="Segoe UI"/>
              </a:rPr>
              <a:t>Q3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606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5EAF2"/>
                </a:solidFill>
                <a:latin typeface="Segoe UI"/>
              </a:rPr>
              <a:t>Public preview on Microsoft AppSource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CBD"/>
                </a:solidFill>
                <a:latin typeface="Segoe UI"/>
              </a:rPr>
              <a:t>Q4 '26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3832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5EAF2"/>
                </a:solidFill>
                <a:latin typeface="Segoe UI"/>
              </a:rPr>
              <a:t>Slack + Google Workspace bridge plugins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CBD"/>
                </a:solidFill>
                <a:latin typeface="Segoe UI"/>
              </a:rPr>
              <a:t>Q1 '27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41605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5EAF2"/>
                </a:solidFill>
                <a:latin typeface="Segoe UI"/>
              </a:rPr>
              <a:t>Voice-first agent on Microsoft Surface devices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8C4E0"/>
                </a:solidFill>
                <a:latin typeface="Segoe UI"/>
              </a:rPr>
              <a:t>Thank you. Let's give every knowledge worker back their 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